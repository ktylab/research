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UI/UX BENCHMARK 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0312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2F5F8"/>
                </a:solidFill>
                <a:latin typeface="Noto Sans KR"/>
                <a:ea typeface="Noto Sans KR"/>
              </a:rPr>
              <a:t>ISA-95 Layer 3~4
웹 업무시스템 화면 유형 벤치마크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AAABA"/>
                </a:solidFill>
                <a:latin typeface="Noto Sans KR"/>
                <a:ea typeface="Noto Sans KR"/>
              </a:rPr>
              <a:t>MES · ERP · APS 한국/글로벌 시장 조사
소르테크 infinitPINN 플랫폼 시안 설계를 위한 자료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2026.07.24  |  SorTech Research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조사 범위와 산출물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37160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3619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B5A0"/>
                </a:solidFill>
                <a:latin typeface="Noto Sans KR"/>
                <a:ea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4630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5F8"/>
                </a:solidFill>
                <a:latin typeface="Noto Sans KR"/>
                <a:ea typeface="Noto Sans KR"/>
              </a:rPr>
              <a:t>조사 범위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175564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ISA-95 Layer 3~4, Web UI 중심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24028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0487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B5A0"/>
                </a:solidFill>
                <a:latin typeface="Noto Sans KR"/>
                <a:ea typeface="Noto Sans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2331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5F8"/>
                </a:solidFill>
                <a:latin typeface="Noto Sans KR"/>
                <a:ea typeface="Noto Sans KR"/>
              </a:rPr>
              <a:t>한국 시장 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2432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MES / ERP / APS 주요 벤더·제품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0896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27355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B5A0"/>
                </a:solidFill>
                <a:latin typeface="Noto Sans KR"/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320040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5F8"/>
                </a:solidFill>
                <a:latin typeface="Noto Sans KR"/>
                <a:ea typeface="Noto Sans KR"/>
              </a:rPr>
              <a:t>글로벌 시장 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4930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Siemens, SAP, Rockwell, AVEVA 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977639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142231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B5A0"/>
                </a:solidFill>
                <a:latin typeface="Noto Sans KR"/>
                <a:ea typeface="Noto Sans K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069079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5F8"/>
                </a:solidFill>
                <a:latin typeface="Noto Sans KR"/>
                <a:ea typeface="Noto Sans KR"/>
              </a:rPr>
              <a:t>화면 유형 12종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11680" y="4361687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유형별 레이아웃·인터랙션·벤치마크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46320"/>
            <a:ext cx="10881360" cy="7315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010912"/>
            <a:ext cx="914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B5A0"/>
                </a:solidFill>
                <a:latin typeface="Noto Sans KR"/>
                <a:ea typeface="Noto Sans KR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4937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2F5F8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523036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infinitPINN 차별화 방향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Noto Sans KR"/>
                <a:ea typeface="Noto Sans KR"/>
              </a:rPr>
              <a:t>조사 범위 — ISA-95 Layer 3~4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웹 기반 업무시스템 UI에 집중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611880" cy="109728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Layer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Noto Sans KR"/>
                <a:ea typeface="Noto Sans KR"/>
              </a:rPr>
              <a:t>경영·자원계획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ERP / SCM / 구매·영업·재무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8F7C"/>
                </a:solidFill>
                <a:latin typeface="Noto Sans KR"/>
                <a:ea typeface="Noto Sans KR"/>
              </a:rPr>
              <a:t>주 사용자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160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Noto Sans KR"/>
                <a:ea typeface="Noto Sans KR"/>
              </a:rPr>
              <a:t>경영진, 구매, 영업, 생산계획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37160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371600"/>
            <a:ext cx="3611880" cy="109728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6CB0"/>
                </a:solidFill>
                <a:latin typeface="Noto Sans KR"/>
                <a:ea typeface="Noto Sans KR"/>
              </a:rPr>
              <a:t>Layer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Noto Sans KR"/>
                <a:ea typeface="Noto Sans KR"/>
              </a:rPr>
              <a:t>제조운영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MES·MOM / APS / WMS / QMS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8F7C"/>
                </a:solidFill>
                <a:latin typeface="Noto Sans KR"/>
                <a:ea typeface="Noto Sans KR"/>
              </a:rPr>
              <a:t>주 사용자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160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Noto Sans KR"/>
                <a:ea typeface="Noto Sans KR"/>
              </a:rPr>
              <a:t>감독, 오퍼레이터, 품질, 스케줄러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71600"/>
            <a:ext cx="3611880" cy="4206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38160" y="1371600"/>
            <a:ext cx="3611880" cy="109728"/>
          </a:xfrm>
          <a:prstGeom prst="rect">
            <a:avLst/>
          </a:prstGeom>
          <a:solidFill>
            <a:srgbClr val="5A6B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1691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5A6B7C"/>
                </a:solidFill>
                <a:latin typeface="Noto Sans KR"/>
                <a:ea typeface="Noto Sans KR"/>
              </a:rPr>
              <a:t>Layer 2↓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0574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A2A3A"/>
                </a:solidFill>
                <a:latin typeface="Noto Sans KR"/>
                <a:ea typeface="Noto Sans KR"/>
              </a:rPr>
              <a:t>제어 (참고)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26517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SCADA / HMI / PLC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384048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D8F7C"/>
                </a:solidFill>
                <a:latin typeface="Noto Sans KR"/>
                <a:ea typeface="Noto Sans KR"/>
              </a:rPr>
              <a:t>주 사용자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41605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A2A3A"/>
                </a:solidFill>
                <a:latin typeface="Noto Sans KR"/>
                <a:ea typeface="Noto Sans KR"/>
              </a:rPr>
              <a:t>본 조사는 패턴만 참고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Noto Sans KR"/>
                <a:ea typeface="Noto Sans KR"/>
              </a:rPr>
              <a:t>한국 시장 — 제품 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MES · ERP · APS 주요 웹 업무시스템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8F7C"/>
                </a:solidFill>
                <a:latin typeface="Noto Sans KR"/>
                <a:ea typeface="Noto Sans KR"/>
              </a:rPr>
              <a:t>MES / MOM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미라콤 Nexplant MESplus — 451+ 코어화면, 통합 UX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삼성SDS Nexplant MES — 반도체·디스플레이·전지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LG CNS Factova MES — AI 품질·설비 통합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영림원 K-System MES — ERP+MES+POP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더존 MES 10 — ERP10 확장, 현장 결재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이맥스 Frame7 — Kiosk·단일 DB 통합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8F7C"/>
                </a:solidFill>
                <a:latin typeface="Noto Sans KR"/>
                <a:ea typeface="Noto Sans KR"/>
              </a:rPr>
              <a:t>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916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더존 Amaranth 10 — Portal/TANGO, 통합검색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더존 ERP 10 / DEWS — 구축형 확장 플랫폼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영림원 K-System Ace / Ace I&amp;I — 프로세스 메뉴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시스템에버 등 SaaS — 중소 클라우드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8F7C"/>
                </a:solidFill>
                <a:latin typeface="Noto Sans KR"/>
                <a:ea typeface="Noto Sans KR"/>
              </a:rPr>
              <a:t>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6916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VMS MOZART — AI·디지털트윈 시뮬레이션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Asprova — 고속 Gantt (국내 다수 도입)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ERP 내장 APS — 영림원·이맥스 등 패키지형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한국 시장 UI 관찰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시안 벤치마킹 시 유의점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91440" cy="804672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3898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5F8"/>
                </a:solidFill>
                <a:latin typeface="Noto Sans KR"/>
                <a:ea typeface="Noto Sans KR"/>
              </a:rPr>
              <a:t>ERP↔MES 패키지 수렴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6916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중견 시장은 ERP 그리드 톤이 MES까지 이어지는 경우가 많음. 현장성 약화 위험.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19456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194560"/>
            <a:ext cx="91440" cy="804672"/>
          </a:xfrm>
          <a:prstGeom prst="rect">
            <a:avLst/>
          </a:prstGeom>
          <a:solidFill>
            <a:srgbClr val="F0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3042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5F8"/>
                </a:solidFill>
                <a:latin typeface="Noto Sans KR"/>
                <a:ea typeface="Noto Sans KR"/>
              </a:rPr>
              <a:t>포털·결재·검색이 L4 차별점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Amaranth의 포틀릿·통합검색·전자결재가 한국형 업무 습관의 핵심.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10896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108960"/>
            <a:ext cx="91440" cy="804672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2186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5F8"/>
                </a:solidFill>
                <a:latin typeface="Noto Sans KR"/>
                <a:ea typeface="Noto Sans KR"/>
              </a:rPr>
              <a:t>대기업 MES는 SI 커스텀 비중 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5204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공개 UI 시안이 적고, 업종 템플릿+커스터마이징이 기본.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4023360"/>
            <a:ext cx="91440" cy="804672"/>
          </a:xfrm>
          <a:prstGeom prst="rect">
            <a:avLst/>
          </a:prstGeom>
          <a:solidFill>
            <a:srgbClr val="F0A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5F8"/>
                </a:solidFill>
                <a:latin typeface="Noto Sans KR"/>
                <a:ea typeface="Noto Sans KR"/>
              </a:rPr>
              <a:t>POP/Kiosk는 사무 UI와 분리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4348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대형 버튼·터치·실적 입력 — Design System 공유하되 밀도는 분리 필요.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937760"/>
            <a:ext cx="11064240" cy="804672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37760"/>
            <a:ext cx="91440" cy="804672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47488"/>
            <a:ext cx="10424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2F5F8"/>
                </a:solidFill>
                <a:latin typeface="Noto Sans KR"/>
                <a:ea typeface="Noto Sans KR"/>
              </a:rPr>
              <a:t>APS는 전문 솔루션이 UI 주도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" y="5349240"/>
            <a:ext cx="10424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9AAABA"/>
                </a:solidFill>
                <a:latin typeface="Noto Sans KR"/>
                <a:ea typeface="Noto Sans KR"/>
              </a:rPr>
              <a:t>MOZART·Asprova의 Gantt/시뮬이 벤치마크 중심.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Noto Sans KR"/>
                <a:ea typeface="Noto Sans KR"/>
              </a:rPr>
              <a:t>글로벌 시장 — 제품 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Design System · Role-based · Composable 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8F7C"/>
                </a:solidFill>
                <a:latin typeface="Noto Sans KR"/>
                <a:ea typeface="Noto Sans KR"/>
              </a:rPr>
              <a:t>MES / MOM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16916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Siemens Opcenter — Mendix 개인화 Shopfloor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Rockwell FactoryTalk — Plant model OEE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AVEVA MES + OMI — Web Portal·위젯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Plex / Infor / Critical — SaaS·하이테크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8F7C"/>
                </a:solidFill>
                <a:latin typeface="Noto Sans KR"/>
                <a:ea typeface="Noto Sans KR"/>
              </a:rPr>
              <a:t>ERP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16916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SAP S/4 + Fiori Horizon — Floorplan 표준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Oracle Cloud — Redwood UX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Infor CloudSuite — 산업 템플릿·AI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Dynamics 365 — Fluent + Power Platform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280160"/>
            <a:ext cx="3657600" cy="4754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38988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D8F7C"/>
                </a:solidFill>
                <a:latin typeface="Noto Sans KR"/>
                <a:ea typeface="Noto Sans KR"/>
              </a:rPr>
              <a:t>APS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02752" y="1691640"/>
            <a:ext cx="33832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SAP PP/DS Scheduling Board — Gantt2.0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Opcenter APS — Planning Board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DELMIA Ortems — What-if·VIC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5A6B7C"/>
                </a:solidFill>
                <a:latin typeface="Noto Sans KR"/>
                <a:ea typeface="Noto Sans KR"/>
              </a:rPr>
              <a:t>• PlanetTogether / Aspen Schedule Explorer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글로벌 UI 공통 DNA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2025–2026 제조 업무시스템 트렌드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B5A0"/>
                </a:solidFill>
                <a:latin typeface="Noto Sans KR"/>
                <a:ea typeface="Noto Sans KR"/>
              </a:rPr>
              <a:t>Design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Fiori / Redwood / Fluent / Mendix
일관 컴포넌트·토큰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3716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B5A0"/>
                </a:solidFill>
                <a:latin typeface="Noto Sans KR"/>
                <a:ea typeface="Noto Sans KR"/>
              </a:rPr>
              <a:t>Role ·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전체 메뉴 노출 →
역할/태스크 앱 분해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3716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691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B5A0"/>
                </a:solidFill>
                <a:latin typeface="Noto Sans KR"/>
                <a:ea typeface="Noto Sans KR"/>
              </a:rPr>
              <a:t>Exception-first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2240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정상은 조용히,
이탈·알람만 강조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6576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B5A0"/>
                </a:solidFill>
                <a:latin typeface="Noto Sans KR"/>
                <a:ea typeface="Noto Sans KR"/>
              </a:rPr>
              <a:t>Composable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Low-code 위젯 조립
현장 맞춤 확장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6576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B5A0"/>
                </a:solidFill>
                <a:latin typeface="Noto Sans KR"/>
                <a:ea typeface="Noto Sans KR"/>
              </a:rPr>
              <a:t>Digital Thread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ERP↔MES↔APS
컨텍스트 deep link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3657600"/>
            <a:ext cx="3657600" cy="201168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12480" y="39776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B5A0"/>
                </a:solidFill>
                <a:latin typeface="Noto Sans KR"/>
                <a:ea typeface="Noto Sans KR"/>
              </a:rPr>
              <a:t>AI Embedded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452628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별도 리포트가 아니라
워크플로 내 추천+설명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Noto Sans KR"/>
                <a:ea typeface="Noto Sans KR"/>
              </a:rPr>
              <a:t>화면 유형 Taxonomy — 12종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infinitPINN 시안 카탈로그 기준 프레임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37160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역할 포털/홈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37160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83280" y="137160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Command Center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37160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37160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라인 현황판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137160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137160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20" y="16916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832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작업지시 실행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9260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92608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트랜잭션 그리드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29260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292608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Object 상세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9260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92608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3796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APS Gantt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292608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144000" y="292608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1832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What-if 시나리오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4480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448056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품질·NCR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83280" y="4480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383280" y="448056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S10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자재·Trace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263640" y="4480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263640" y="448056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3796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설비·보전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144000" y="4480560"/>
            <a:ext cx="2743200" cy="1325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9144000" y="4480560"/>
            <a:ext cx="91440" cy="1325880"/>
          </a:xfrm>
          <a:prstGeom prst="rect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18320" y="48006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8F7C"/>
                </a:solidFill>
                <a:latin typeface="Noto Sans KR"/>
                <a:ea typeface="Noto Sans KR"/>
              </a:rPr>
              <a:t>S12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418320" y="51206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리포트·분석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S01 역할 포털 / 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L4·L3 · 전 역할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타일·포틀릿·카드 그리드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통합검색·알림·미결 업무 우선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개인화 배치, 앱 런치패드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Amaranth Portal / Tango View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SAP Fiori Launchpad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Opcenter Mendix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메뉴 트리가 아닌 Persona × 오늘 할 일 진입점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S02 Command Center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L4·L3 · 경영진·공장장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KPI 카드 + 트렌드 + 예외 리스트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Overview → Drill-down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멀티사이트 실시간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Rockwell OEE Dashboard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AVEVA 위젯 대시보드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SAP Analytics 임베드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생산·품질·스케줄 KPI 통합, 장식용 3D 지양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S03 라인/공정 현황판 (Andon)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 · 감독·현장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대형 디스플레이·원거리 가독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상태 블록, 최소 인터랙션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ISA-101: 정상 중립·이상만 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MES Andon 보드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High-Performance HMI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POP 현황판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사무 UI와 시각 언어 분리 (관제 모드)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S04 작업지시 실행 (Shopfloor)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 · 오퍼레이터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현재 작업 1개 중심·대형 CTA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단계 위저드, 바코드/서명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도면·문서 첨부, 터치 최적화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Opcenter Shopfloor UI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국내 POP/Kiosk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AVEVA MES Web Portal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글러브·조명 환경을 가정한 물리 UX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S05 마스터/트랜잭션 그리드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L4 · 사무·관리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필터바 + 테이블 + 툴바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엑셀형 편집·일괄처리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컬럼 개인화·유효성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SAP Fiori List Report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더존/영림원 ERP 그리드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Oracle/NetSuite 그리드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밀도는 유지, 빈상태·오류 메시지 품질로 차별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S06 Object 상세 페이지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L4·L3 · 사무·품질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헤더 KPI + 탭 구조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이력·문서·관계 탭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오더↔Lot↔설비 deep link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Fiori Object Page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MES Lot 상세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Windchill Navigate형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Digital Thread의 허브 화면으로 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S07 APS 스케줄 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 · 스케줄러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좌 리소스 테이블 + 우 타임라인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DnD, 제약 위반 하이라이트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Side panel, pegging 관계선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SAP PP/DS Scheduling Board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PlanetTogether / Asprova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VMS MOZART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팝업 과다 지양 → Side panel + 범례·패턴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S08 What-if / 시나리오 비교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 · 플래너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A/B 병치 또는 KPI 델타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시나리오 저장·적용·롤백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최적화 슬라이더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DELMIA Ortems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PlanetTogether What-if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MOZART 시뮬레이션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AI 추천 시 ‘왜 이 계획인가’ 설명 패널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S09 품질검사 · NCR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 · 품질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체크리스트 + Pass/Fail CTA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도면/이미지 오버레이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부적합 워크플로·감사추적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Opcenter Quality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eDHR 패턴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Factova AI 검사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전자기록·규제 대응 UX 내재화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S10 자재 · 재고 ·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L3·L4 · 물류·품질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재고 그리드 + Genealogy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Lot/Serial 홀드·릴리즈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FIFO·리콜 역추적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MES/WMS Trace 화면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Genealogy 트리/그래프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리콜 시나리오 원클릭 역추적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S11 설비 · 보전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 · 설비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가동상태·알람·사유코드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PM 일정·예지보전 점수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보전 티켓 ↔ MES 실적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EAM 연동 UI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Factova Control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Rockwell Performance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MES와 보전의 양방향 링크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S12 리포트 ·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L4·L3 · 분석가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5486400" cy="4389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화면 특징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49377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위젯 캔버스 / 고정 리포트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임베디드 차트</a:t>
            </a:r>
          </a:p>
          <a:p>
            <a:pPr>
              <a:spcAft>
                <a:spcPts val="1200"/>
              </a:spcAft>
            </a:pPr>
            <a:r>
              <a:rPr sz="1500" b="0">
                <a:solidFill>
                  <a:srgbClr val="F2F5F8"/>
                </a:solidFill>
                <a:latin typeface="Noto Sans KR"/>
                <a:ea typeface="Noto Sans KR"/>
              </a:rPr>
              <a:t>▸  Excel·PDF 내보내기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280160"/>
            <a:ext cx="5394960" cy="25603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63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0A53A"/>
                </a:solidFill>
                <a:latin typeface="Noto Sans KR"/>
                <a:ea typeface="Noto Sans KR"/>
              </a:rPr>
              <a:t>벤치마크 레퍼런스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92024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Embedded Analytics</a:t>
            </a:r>
          </a:p>
          <a:p>
            <a:pPr>
              <a:spcAft>
                <a:spcPts val="800"/>
              </a:spcAft>
            </a:pPr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•  Schneider/AVEVA 위젯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114800"/>
            <a:ext cx="5394960" cy="1554480"/>
          </a:xfrm>
          <a:prstGeom prst="roundRect">
            <a:avLst>
              <a:gd name="adj" fmla="val 8000"/>
            </a:avLst>
          </a:prstGeom>
          <a:solidFill>
            <a:srgbClr val="1724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42976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B5A0"/>
                </a:solidFill>
                <a:latin typeface="Noto Sans KR"/>
                <a:ea typeface="Noto Sans KR"/>
              </a:rPr>
              <a:t>소르테크 시사점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709160"/>
            <a:ext cx="4937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2F5F8"/>
                </a:solidFill>
                <a:latin typeface="Noto Sans KR"/>
                <a:ea typeface="Noto Sans KR"/>
              </a:rPr>
              <a:t>트랜잭션 화면 인라인 인사이트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Noto Sans KR"/>
                <a:ea typeface="Noto Sans KR"/>
              </a:rPr>
              <a:t>벤치마크 매트릭스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강점 레퍼런스 vs 피해야 할 패턴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234440"/>
            <a:ext cx="1600200" cy="411480"/>
          </a:xfrm>
          <a:prstGeom prst="roundRect">
            <a:avLst>
              <a:gd name="adj" fmla="val 8000"/>
            </a:avLst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0759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  <a:ea typeface="Noto Sans KR"/>
              </a:rPr>
              <a:t>화면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03120" y="1234440"/>
            <a:ext cx="2651760" cy="411480"/>
          </a:xfrm>
          <a:prstGeom prst="roundRect">
            <a:avLst>
              <a:gd name="adj" fmla="val 8000"/>
            </a:avLst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94560" y="1307592"/>
            <a:ext cx="2514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  <a:ea typeface="Noto Sans KR"/>
              </a:rPr>
              <a:t>한국 강점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234440"/>
            <a:ext cx="3108960" cy="411480"/>
          </a:xfrm>
          <a:prstGeom prst="roundRect">
            <a:avLst>
              <a:gd name="adj" fmla="val 8000"/>
            </a:avLst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1307592"/>
            <a:ext cx="2971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  <a:ea typeface="Noto Sans KR"/>
              </a:rPr>
              <a:t>글로벌 강점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234440"/>
            <a:ext cx="3566160" cy="411480"/>
          </a:xfrm>
          <a:prstGeom prst="roundRect">
            <a:avLst>
              <a:gd name="adj" fmla="val 8000"/>
            </a:avLst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1307592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Noto Sans KR"/>
                <a:ea typeface="Noto Sans KR"/>
              </a:rPr>
              <a:t>Avoid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173736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18745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S01 포털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03120" y="173736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194560" y="18745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Amaranth 개인화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46320" y="173736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37760" y="18745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Fiori Launchpad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173736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0" y="18745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깊은 메뉴만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" y="237744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251460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S02 관제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103120" y="237744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94560" y="251460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대기업 MES 현황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846320" y="237744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0" y="251460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Rockwell/AVEVA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237744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251460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네온 장식 대시보드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" y="301752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154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S03 Andon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103120" y="301752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194560" y="315468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POP/Kiosk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846320" y="301752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937760" y="315468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ISA-101 HMI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01752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315468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작은 폰트·차트 과다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1480" y="3657599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379475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S04 실행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103120" y="3657599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194560" y="379475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현장 Kiosk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846320" y="3657599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937760" y="379475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Opcenter Shopfloor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657599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38160" y="379475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사무폼 그대로 터치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11480" y="429768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443484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S05 그리드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03120" y="429768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194560" y="443484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더존/영림원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846320" y="429768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37760" y="443484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Fiori List Report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046720" y="429768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138160" y="443484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검증없는 엑셀복제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11480" y="4937760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02920" y="507492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S07 Gantt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2103120" y="4937760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194560" y="5074920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MOZART/Asprova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846320" y="4937760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937760" y="5074920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SAP PSB/Planet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8046720" y="4937760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EA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138160" y="5074920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팝업·범례 부재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11480" y="5577839"/>
            <a:ext cx="160020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02920" y="5714999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S08 What-if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2103120" y="5577839"/>
            <a:ext cx="26517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194560" y="5714999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MOZART 시뮬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846320" y="5577839"/>
            <a:ext cx="31089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937760" y="5714999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Ortems/Planet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8046720" y="5577839"/>
            <a:ext cx="3566160" cy="548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38160" y="5714999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A2A3A"/>
                </a:solidFill>
                <a:latin typeface="Noto Sans KR"/>
                <a:ea typeface="Noto Sans KR"/>
              </a:rPr>
              <a:t>근거없는 AI 추천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2F5F8"/>
                </a:solidFill>
                <a:latin typeface="Noto Sans KR"/>
                <a:ea typeface="Noto Sans KR"/>
              </a:rPr>
              <a:t>소르테크 · infinitPINN 차별화 방향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시안 단계 설계 원칙 6가지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B5A0"/>
                </a:solidFill>
                <a:latin typeface="Noto Sans KR"/>
                <a:ea typeface="Noto Sans KR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F5F8"/>
                </a:solidFill>
                <a:latin typeface="Noto Sans KR"/>
                <a:ea typeface="Noto Sans KR"/>
              </a:rPr>
              <a:t>One Design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L3~L4 톤은 공유, 밀도·터치·정보계층은 분리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32588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B5A0"/>
                </a:solidFill>
                <a:latin typeface="Noto Sans KR"/>
                <a:ea typeface="Noto Sans KR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F5F8"/>
                </a:solidFill>
                <a:latin typeface="Noto Sans KR"/>
                <a:ea typeface="Noto Sans KR"/>
              </a:rPr>
              <a:t>Persona × Task × Device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모듈명 대신 역할·과업·단말 매트릭스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32588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66760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B5A0"/>
                </a:solidFill>
                <a:latin typeface="Noto Sans KR"/>
                <a:ea typeface="Noto Sans KR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60" y="2057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F5F8"/>
                </a:solidFill>
                <a:latin typeface="Noto Sans KR"/>
                <a:ea typeface="Noto Sans KR"/>
              </a:rPr>
              <a:t>Exception &amp;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56032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데이터 전시 → 지금 해야 할 일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6576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B5A0"/>
                </a:solidFill>
                <a:latin typeface="Noto Sans KR"/>
                <a:ea typeface="Noto Sans KR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F5F8"/>
                </a:solidFill>
                <a:latin typeface="Noto Sans KR"/>
                <a:ea typeface="Noto Sans KR"/>
              </a:rPr>
              <a:t>Digital Thread Hub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Object Page로 오더·Lot·설비·스케줄 연결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6576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B5A0"/>
                </a:solidFill>
                <a:latin typeface="Noto Sans KR"/>
                <a:ea typeface="Noto Sans KR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F5F8"/>
                </a:solidFill>
                <a:latin typeface="Noto Sans KR"/>
                <a:ea typeface="Noto Sans KR"/>
              </a:rPr>
              <a:t>Explainable AI/PINN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추천은 Side panel 근거형 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657600"/>
            <a:ext cx="3657600" cy="2103120"/>
          </a:xfrm>
          <a:prstGeom prst="roundRect">
            <a:avLst>
              <a:gd name="adj" fmla="val 8000"/>
            </a:avLst>
          </a:prstGeom>
          <a:solidFill>
            <a:srgbClr val="1E2F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39319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B5A0"/>
                </a:solidFill>
                <a:latin typeface="Noto Sans KR"/>
                <a:ea typeface="Noto Sans KR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38912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F5F8"/>
                </a:solidFill>
                <a:latin typeface="Noto Sans KR"/>
                <a:ea typeface="Noto Sans KR"/>
              </a:rPr>
              <a:t>Korea × Global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920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결재·엑셀·검색 + Design System 품질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AAABA"/>
                </a:solidFill>
                <a:latin typeface="Noto Sans KR"/>
                <a:ea typeface="Noto Sans KR"/>
              </a:rP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73152" cy="4572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74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A2A3A"/>
                </a:solidFill>
                <a:latin typeface="Noto Sans KR"/>
                <a:ea typeface="Noto Sans KR"/>
              </a:rPr>
              <a:t>다음 단계 제안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시안 제작 로드맵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258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1490472"/>
            <a:ext cx="457200" cy="457200"/>
          </a:xfrm>
          <a:prstGeom prst="ellipse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  <a:ea typeface="Noto Sans KR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Persona 확정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5544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공장장 / 스케줄러 / 오퍼레이터 / 품질 / 경영지원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2402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" y="2404872"/>
            <a:ext cx="457200" cy="457200"/>
          </a:xfrm>
          <a:prstGeom prst="ellipse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  <a:ea typeface="Noto Sans KR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377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우선 화면 6종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4688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S01, S02, S04, S05, S07, S09 시안 우선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1546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3319272"/>
            <a:ext cx="457200" cy="457200"/>
          </a:xfrm>
          <a:prstGeom prst="ellipse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  <a:ea typeface="Noto Sans KR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Design Token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33832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색·타이포·상태색(정상/주의/위험/진행) 정의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0690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4233672"/>
            <a:ext cx="457200" cy="457200"/>
          </a:xfrm>
          <a:prstGeom prst="ellipse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2976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  <a:ea typeface="Noto Sans KR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54480" y="42062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와이어→하이파이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42976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정보구조 → 인터랙션 → 비주얼 브랜드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4983480"/>
            <a:ext cx="1106424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60" y="5148072"/>
            <a:ext cx="457200" cy="457200"/>
          </a:xfrm>
          <a:prstGeom prst="ellipse">
            <a:avLst/>
          </a:prstGeom>
          <a:solidFill>
            <a:srgbClr val="0D8F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212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Noto Sans KR"/>
                <a:ea typeface="Noto Sans KR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A3A"/>
                </a:solidFill>
                <a:latin typeface="Noto Sans KR"/>
                <a:ea typeface="Noto Sans KR"/>
              </a:rPr>
              <a:t>현장 검증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0" y="5212080"/>
            <a:ext cx="6217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A6B7C"/>
                </a:solidFill>
                <a:latin typeface="Noto Sans KR"/>
                <a:ea typeface="Noto Sans KR"/>
              </a:rPr>
              <a:t>터치거리·조명·교대 시나리오로 사용성 점검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SorTech · infinitPINN UI/UX Benchmark · Confidential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A6B7C"/>
                </a:solidFill>
                <a:latin typeface="Noto Sans KR"/>
                <a:ea typeface="Noto Sans KR"/>
              </a:rP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B5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B5A0"/>
                </a:solidFill>
                <a:latin typeface="Noto Sans KR"/>
                <a:ea typeface="Noto Sans KR"/>
              </a:rPr>
              <a:t>자료 위치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2F5F8"/>
                </a:solidFill>
                <a:latin typeface="Noto Sans KR"/>
                <a:ea typeface="Noto Sans KR"/>
              </a:rPr>
              <a:t>research/layer34-web-uisystem-benchmark-kr-global.md
research/manufacturing-business-system-ui-report.md
deliverables/SorTech_Layer34_UI_Benchmark.pptx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AAABA"/>
                </a:solidFill>
                <a:latin typeface="Noto Sans KR"/>
                <a:ea typeface="Noto Sans KR"/>
              </a:rPr>
              <a:t>SorTech · infinitPINN  |  Layer 3~4 UI/UX Benchmark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